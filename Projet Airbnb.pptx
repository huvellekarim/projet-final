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1" r:id="rId9"/>
    <p:sldId id="262" r:id="rId10"/>
    <p:sldId id="263" r:id="rId1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1FAFCA1-BBDD-44BB-9648-597CD7B6C978}" v="8" dt="2025-07-24T21:50:21.9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782A075-95E7-BB8E-6E9B-ED8799A2F3D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BAFCD1F-5EE7-268E-E57B-292EF24718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3940462-BA80-345F-AD9B-8FD690377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8241-6D5D-4062-90B5-01E57F4F8EEF}" type="datetimeFigureOut">
              <a:rPr lang="fr-FR" smtClean="0"/>
              <a:t>04/08/2025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E665296-9B11-C2C5-F4AB-239A48C44E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A8BF0F-9CBF-33B1-4FE4-B0089B05D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4555-9976-4FC1-BD79-B511C3DCA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157759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C8F2E9-DF01-664C-2924-B58C8459D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C3EDFF4-092E-8EB0-ADDE-49F9FDF70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CF62004-B26C-82D6-9133-3A7C01E15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8241-6D5D-4062-90B5-01E57F4F8EEF}" type="datetimeFigureOut">
              <a:rPr lang="fr-FR" smtClean="0"/>
              <a:t>04/08/2025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D8D1A5D-450E-3C6A-2DC6-CF4D52530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D698209-1864-123F-C859-8B9CA1CE5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4555-9976-4FC1-BD79-B511C3DCA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49803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97297C8-CC53-E705-325C-ADD4715AB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C18BC37-DF09-1296-CE95-F3680CE38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8632295-AEC8-E588-1201-E3A7D567C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8241-6D5D-4062-90B5-01E57F4F8EEF}" type="datetimeFigureOut">
              <a:rPr lang="fr-FR" smtClean="0"/>
              <a:t>04/08/2025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04A26E-AE58-CC04-FAB5-9C5806043D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12337B0-D7C1-231F-2EA2-267D8E35B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4555-9976-4FC1-BD79-B511C3DCA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320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FBAD8F-7AC8-8D82-F827-037293B0B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2C084F-165B-72A6-0B6F-E68D08DBF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A5695A1-2326-786D-E2D3-AF7D099EB7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B435E31-2780-1C57-CFED-17C886B57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8241-6D5D-4062-90B5-01E57F4F8EEF}" type="datetimeFigureOut">
              <a:rPr lang="fr-FR" smtClean="0"/>
              <a:t>04/08/2025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C9808EB1-0CB4-FAC1-BD28-83E84252C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D750EF48-1B94-EBA7-C7C1-C79AFC330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4555-9976-4FC1-BD79-B511C3DCA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438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F1BFF17-945A-BA04-2CF1-BC63F2FF8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C9AAF53-03F9-6796-37AB-096441AEE7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DD92946-6D99-D890-DF45-D066B3BA15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054F9F8-E03E-01AE-1533-3E876E1B98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5517C144-C9B8-DD85-C11E-ACA5FB4DD8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1FC1167-AB25-027F-3192-1B8F04DE61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8241-6D5D-4062-90B5-01E57F4F8EEF}" type="datetimeFigureOut">
              <a:rPr lang="fr-FR" smtClean="0"/>
              <a:t>04/08/2025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16FD335-3D06-3E4E-9885-D9354DB3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2BC633A-18DE-FB38-0AA6-576E9B505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4555-9976-4FC1-BD79-B511C3DCA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21569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0F8EE8-0C94-05EB-84D8-1F0616603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2BF727B5-F0A5-22C7-506C-E51E54F820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8241-6D5D-4062-90B5-01E57F4F8EEF}" type="datetimeFigureOut">
              <a:rPr lang="fr-FR" smtClean="0"/>
              <a:t>04/08/2025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E44A43E-1216-39D5-59A2-C961251F1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5316AA60-9A25-0A6E-6A43-3A5AF1BEC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4555-9976-4FC1-BD79-B511C3DCA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57471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412E45B-0F3D-1A8C-A196-D91CEA5BB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8241-6D5D-4062-90B5-01E57F4F8EEF}" type="datetimeFigureOut">
              <a:rPr lang="fr-FR" smtClean="0"/>
              <a:t>04/08/2025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2D27537-A82F-F3C9-6FC4-A9C2080742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C9E2F7-F4A1-23AE-22A3-2E070DCD1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4555-9976-4FC1-BD79-B511C3DCA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99141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6876849-E723-0FAE-FA9C-90CF15360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3C2F4F-503E-BB85-0550-65CE035AE7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02EBA1-FEBC-5213-024D-82037A06F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375C81D-0812-251A-18E0-F47155BB0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8241-6D5D-4062-90B5-01E57F4F8EEF}" type="datetimeFigureOut">
              <a:rPr lang="fr-FR" smtClean="0"/>
              <a:t>04/08/2025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FD53D07-92B2-2E7F-9F17-A380BD2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8902604-A5C5-3583-24CC-B6AB61590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4555-9976-4FC1-BD79-B511C3DCA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6226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C657D3-AF90-6888-D155-845039258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5075A28-9188-ED89-E58D-616B5C8D54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B44F4D1-2338-CA57-9C85-F645B0337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E14C28F-1C24-B1EC-7F19-E78B80E45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8241-6D5D-4062-90B5-01E57F4F8EEF}" type="datetimeFigureOut">
              <a:rPr lang="fr-FR" smtClean="0"/>
              <a:t>04/08/2025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A07B3E1-6FFE-1B73-D219-01A89B718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6C93E46-EDF5-4E45-665B-D04FF425D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4555-9976-4FC1-BD79-B511C3DCA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4643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F3EFB4-B2B3-EA1C-B002-844190DC2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FEC460-B3E0-375D-4071-6C516F8E70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AA6F43-09D2-3AC8-7EC1-951D03F4DA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8241-6D5D-4062-90B5-01E57F4F8EEF}" type="datetimeFigureOut">
              <a:rPr lang="fr-FR" smtClean="0"/>
              <a:t>04/08/2025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26AB56-37FD-B7C2-C00B-7428F45E6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EB14320-65CE-B4B8-EF0C-A1BE6BD7C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4555-9976-4FC1-BD79-B511C3DCA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65731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EC24D458-000C-AE21-5742-4D20AD20A3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C9BE957-8B26-C75C-05BD-AE3CC099FA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4B9133-6F6F-0F50-768D-A9BED6544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358241-6D5D-4062-90B5-01E57F4F8EEF}" type="datetimeFigureOut">
              <a:rPr lang="fr-FR" smtClean="0"/>
              <a:t>04/08/2025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6041702-4843-1928-89D3-A06F887151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7B5F647-D8B6-24B0-DB2A-2AE861DB8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CF4555-9976-4FC1-BD79-B511C3DCA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81441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AF0648C7-E57E-CBAE-B241-BB7CB9F0E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ABE6FB8-BA31-882A-30D6-277EDD273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ED1C384-84E4-DE81-FD33-BBCED86316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58241-6D5D-4062-90B5-01E57F4F8EEF}" type="datetimeFigureOut">
              <a:rPr lang="fr-FR" smtClean="0"/>
              <a:t>04/08/2025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6BA3022-A338-ABE4-DA29-596BCFD421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BF9304-CCB7-1809-7F6D-6927A6C884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CF4555-9976-4FC1-BD79-B511C3DCA8A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64241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60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EFE57D-0D25-E719-F0B8-96E21F9FC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fr-FR" dirty="0"/>
              <a:t>Impact de la proximité à la Seine sur les prix et l’attractivité des logements Airbnb à Paris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944C42B0-ACFC-C3CE-626C-0563FE5743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/>
          <a:p>
            <a:r>
              <a:rPr lang="fr-FR" dirty="0"/>
              <a:t>Projet Data – Huvelle Karim– Juillet 2025</a:t>
            </a:r>
          </a:p>
        </p:txBody>
      </p:sp>
      <p:pic>
        <p:nvPicPr>
          <p:cNvPr id="7" name="Image 6" descr="Une image contenant Police, Graphique, logo, cercle&#10;&#10;Le contenu généré par l’IA peut être incorrect.">
            <a:extLst>
              <a:ext uri="{FF2B5EF4-FFF2-40B4-BE49-F238E27FC236}">
                <a16:creationId xmlns:a16="http://schemas.microsoft.com/office/drawing/2014/main" id="{115BB1BD-DB0F-3CAF-66BA-2A9B73FD7B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52193" y="6074305"/>
            <a:ext cx="878889" cy="579215"/>
          </a:xfrm>
          <a:prstGeom prst="rect">
            <a:avLst/>
          </a:prstGeom>
        </p:spPr>
      </p:pic>
      <p:pic>
        <p:nvPicPr>
          <p:cNvPr id="12" name="Image 11" descr="Une image contenant texte, Police, logo, conception&#10;&#10;Le contenu généré par l’IA peut être incorrect.">
            <a:extLst>
              <a:ext uri="{FF2B5EF4-FFF2-40B4-BE49-F238E27FC236}">
                <a16:creationId xmlns:a16="http://schemas.microsoft.com/office/drawing/2014/main" id="{9CABF44F-5944-1F6B-29F5-544E4A9370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904640"/>
            <a:ext cx="1340527" cy="74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553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0478C6-C458-DC17-63C4-8213F50F9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dirty="0">
                <a:solidFill>
                  <a:srgbClr val="FF5A5F"/>
                </a:solidFill>
              </a:rPr>
              <a:t>Contexte &amp; Problématique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5DDE24-7036-2248-62CB-61F5BB2B1C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484" y="1982941"/>
            <a:ext cx="10940845" cy="4351338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fr-FR" sz="44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Contexte</a:t>
            </a:r>
          </a:p>
          <a:p>
            <a:r>
              <a:rPr lang="fr-FR" sz="29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Paris se prépare pour les Jeux Olympiques 2024.</a:t>
            </a:r>
          </a:p>
          <a:p>
            <a:r>
              <a:rPr lang="fr-FR" sz="29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Un projet de réhabilitation de la Seine prévoit notamment des zones de baignade.</a:t>
            </a:r>
          </a:p>
          <a:p>
            <a:r>
              <a:rPr lang="fr-FR" sz="29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Cette transformation pourrait dynamiser l’attractivité touristique des bords de Seine.</a:t>
            </a:r>
          </a:p>
          <a:p>
            <a:r>
              <a:rPr lang="fr-FR" sz="29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Airbnb, acteur clé de l’hébergement temporaire, est concerné par ces évolutions</a:t>
            </a:r>
          </a:p>
          <a:p>
            <a:pPr marL="0" indent="0">
              <a:buNone/>
            </a:pPr>
            <a:endParaRPr lang="fr-FR" dirty="0">
              <a:solidFill>
                <a:schemeClr val="bg2">
                  <a:lumMod val="25000"/>
                </a:schemeClr>
              </a:solidFill>
            </a:endParaRPr>
          </a:p>
          <a:p>
            <a:pPr marL="0" indent="0">
              <a:buNone/>
            </a:pPr>
            <a:r>
              <a:rPr lang="fr-FR" sz="44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Problématique</a:t>
            </a:r>
          </a:p>
          <a:p>
            <a:pPr marL="0" indent="0">
              <a:buNone/>
            </a:pPr>
            <a:r>
              <a:rPr lang="fr-FR" sz="2900" b="1" dirty="0">
                <a:latin typeface="Arial" panose="020B0604020202020204" pitchFamily="34" charset="0"/>
                <a:cs typeface="Arial" panose="020B0604020202020204" pitchFamily="34" charset="0"/>
              </a:rPr>
              <a:t>La proximité à la Seine influence-t-elle les prix et l’attractivité des logements Airbnb à Paris ?</a:t>
            </a:r>
          </a:p>
          <a:p>
            <a:pPr marL="0" indent="0">
              <a:buNone/>
            </a:pPr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fr-FR" sz="44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Objectifs de l’analyse</a:t>
            </a:r>
          </a:p>
          <a:p>
            <a:r>
              <a:rPr lang="fr-FR" sz="29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Comparer les prix moyens des logements selon leur distance à la Seine.</a:t>
            </a:r>
          </a:p>
          <a:p>
            <a:r>
              <a:rPr lang="fr-FR" sz="29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Évaluer l’attractivité via le nombre moyen d’avis.</a:t>
            </a:r>
          </a:p>
          <a:p>
            <a:r>
              <a:rPr lang="fr-FR" sz="2900" dirty="0">
                <a:solidFill>
                  <a:schemeClr val="bg2">
                    <a:lumMod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Identifier les quartiers stratégiques pour les hôtes Airbnb.</a:t>
            </a:r>
          </a:p>
          <a:p>
            <a:pPr marL="0" indent="0">
              <a:buNone/>
            </a:pPr>
            <a:endParaRPr lang="fr-FR" i="1" dirty="0">
              <a:solidFill>
                <a:schemeClr val="bg2">
                  <a:lumMod val="10000"/>
                </a:schemeClr>
              </a:solidFill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1373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11871A4-CE36-4A7B-92DD-16DF1FC054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7263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>
                <a:solidFill>
                  <a:srgbClr val="FF5A5F"/>
                </a:solidFill>
              </a:rPr>
              <a:t>Données &amp; Préparation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53BD792-712B-41CE-9E7F-60B5274F2F17}"/>
              </a:ext>
            </a:extLst>
          </p:cNvPr>
          <p:cNvSpPr txBox="1"/>
          <p:nvPr/>
        </p:nvSpPr>
        <p:spPr>
          <a:xfrm>
            <a:off x="7559040" y="2204720"/>
            <a:ext cx="1847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B11405E-8F4A-ED20-3BE2-DA9ABFF737B9}"/>
              </a:ext>
            </a:extLst>
          </p:cNvPr>
          <p:cNvSpPr txBox="1"/>
          <p:nvPr/>
        </p:nvSpPr>
        <p:spPr>
          <a:xfrm>
            <a:off x="58855" y="1592826"/>
            <a:ext cx="12083844" cy="52651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87425DB-F590-6FAE-D2BC-419EFF8D75F8}"/>
              </a:ext>
            </a:extLst>
          </p:cNvPr>
          <p:cNvSpPr txBox="1"/>
          <p:nvPr/>
        </p:nvSpPr>
        <p:spPr>
          <a:xfrm>
            <a:off x="86033" y="1179871"/>
            <a:ext cx="1018621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fr-FR" dirty="0"/>
          </a:p>
          <a:p>
            <a:r>
              <a:rPr lang="fr-FR" dirty="0"/>
              <a:t>📁 </a:t>
            </a:r>
            <a:r>
              <a:rPr lang="fr-FR" sz="2400" b="1" dirty="0">
                <a:solidFill>
                  <a:srgbClr val="FF5A5F"/>
                </a:solidFill>
              </a:rPr>
              <a:t>Sources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Airbnb Get Data (septembre 2024, décembre 2024, mars 2025)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GeoJSON des quartiers parisiens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Tracé de la Seine via OSM (OpenStreetMap)</a:t>
            </a:r>
          </a:p>
          <a:p>
            <a:endParaRPr lang="fr-FR" dirty="0"/>
          </a:p>
          <a:p>
            <a:r>
              <a:rPr lang="fr-FR" dirty="0"/>
              <a:t>🧹</a:t>
            </a:r>
            <a:r>
              <a:rPr lang="fr-FR" sz="2400" b="1" dirty="0">
                <a:solidFill>
                  <a:srgbClr val="FF5A5F"/>
                </a:solidFill>
              </a:rPr>
              <a:t>Préparation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Filtrage intra-muros (via latitude / longitude)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Logements entiers &amp; actifs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Suppression des lignes avec prix manquant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NaN dans reviews_per_month →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Suppression des outliers sur price et minimum_nights (IQR)</a:t>
            </a:r>
          </a:p>
          <a:p>
            <a:endParaRPr lang="fr-FR" sz="1600" dirty="0"/>
          </a:p>
          <a:p>
            <a:r>
              <a:rPr lang="fr-FR" sz="2400" dirty="0"/>
              <a:t>📍</a:t>
            </a:r>
            <a:r>
              <a:rPr lang="fr-FR" sz="2400" b="1" dirty="0">
                <a:solidFill>
                  <a:srgbClr val="FF5A5F"/>
                </a:solidFill>
              </a:rPr>
              <a:t>Enrichissement &amp; visualisation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Ajout distance à la Seine (GeoPandas + </a:t>
            </a:r>
            <a:r>
              <a:rPr lang="fr-F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Shapely</a:t>
            </a: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Ajout prix moyen journalier et jointure avec </a:t>
            </a:r>
            <a:r>
              <a:rPr lang="fr-FR" sz="16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calendar</a:t>
            </a:r>
            <a:endParaRPr lang="fr-FR" sz="1600" dirty="0">
              <a:solidFill>
                <a:schemeClr val="tx1">
                  <a:lumMod val="85000"/>
                  <a:lumOff val="1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Création des listings enrichis dans Jupyter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Intégration dans Power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 pages : Vue globale, par distance, par quartier</a:t>
            </a:r>
          </a:p>
          <a:p>
            <a:endParaRPr lang="fr-FR" sz="1600" dirty="0"/>
          </a:p>
          <a:p>
            <a:endParaRPr lang="fr-FR" dirty="0"/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62F537E2-E345-F6C6-3937-724923C75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2298" y="1592826"/>
            <a:ext cx="5128059" cy="3499245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4717DE88-2027-3327-1050-C87297753288}"/>
              </a:ext>
            </a:extLst>
          </p:cNvPr>
          <p:cNvSpPr txBox="1"/>
          <p:nvPr/>
        </p:nvSpPr>
        <p:spPr>
          <a:xfrm>
            <a:off x="6712298" y="5197249"/>
            <a:ext cx="51280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400"/>
              <a:t>Zoom sur les logements “très proches” (&lt; 200 m de la Seine)</a:t>
            </a:r>
            <a:endParaRPr lang="fr-FR" sz="1400" dirty="0"/>
          </a:p>
        </p:txBody>
      </p:sp>
    </p:spTree>
    <p:extLst>
      <p:ext uri="{BB962C8B-B14F-4D97-AF65-F5344CB8AC3E}">
        <p14:creationId xmlns:p14="http://schemas.microsoft.com/office/powerpoint/2010/main" val="34636670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B8CAD2-3BAA-D898-3E71-4562EBB82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800" b="1" dirty="0">
                <a:solidFill>
                  <a:srgbClr val="FF5A5F"/>
                </a:solidFill>
              </a:rPr>
              <a:t>Analyse exploratoire – Évolution des prix selon distance &amp; période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00F6BB8-3459-75B4-1454-557057B438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66" y="1602500"/>
            <a:ext cx="5973009" cy="3019846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20345E6-7446-54F7-D59F-B9CCB1A94D48}"/>
              </a:ext>
            </a:extLst>
          </p:cNvPr>
          <p:cNvSpPr txBox="1"/>
          <p:nvPr/>
        </p:nvSpPr>
        <p:spPr>
          <a:xfrm>
            <a:off x="6818510" y="1985657"/>
            <a:ext cx="47319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📌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Observations principales :</a:t>
            </a:r>
            <a:b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• Les logements </a:t>
            </a:r>
            <a:r>
              <a:rPr lang="fr-FR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très proches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 la Seine sont en moyenne </a:t>
            </a:r>
            <a:r>
              <a:rPr lang="fr-FR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40 % plus chers</a:t>
            </a:r>
            <a:r>
              <a:rPr lang="fr-FR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que ceux très éloignés</a:t>
            </a:r>
            <a:b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• Les </a:t>
            </a:r>
            <a:r>
              <a:rPr lang="fr-FR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prix augmentent</a:t>
            </a:r>
            <a:r>
              <a:rPr lang="fr-FR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nettement à mesure que l’on </a:t>
            </a:r>
            <a:r>
              <a:rPr lang="fr-FR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rapproche</a:t>
            </a:r>
            <a:r>
              <a:rPr lang="fr-FR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de la Seine</a:t>
            </a:r>
            <a:b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• En </a:t>
            </a:r>
            <a:r>
              <a:rPr lang="fr-FR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septembre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les prix sont globalement </a:t>
            </a:r>
            <a:r>
              <a:rPr lang="fr-FR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plus élevés</a:t>
            </a:r>
            <a:r>
              <a:rPr lang="fr-FR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qu’en décembre et mars</a:t>
            </a:r>
            <a:b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• En zone “proche”,</a:t>
            </a:r>
            <a:r>
              <a:rPr lang="fr-FR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décembre dépasse mars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ce qui suggère une attractivité locale spécifique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604DE90-B727-3113-8BB4-BE2705D64BFF}"/>
              </a:ext>
            </a:extLst>
          </p:cNvPr>
          <p:cNvSpPr txBox="1"/>
          <p:nvPr/>
        </p:nvSpPr>
        <p:spPr>
          <a:xfrm>
            <a:off x="196646" y="4857135"/>
            <a:ext cx="583053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📏 </a:t>
            </a:r>
            <a:r>
              <a:rPr lang="fr-FR" sz="12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Catégories de distance à la Seine </a:t>
            </a:r>
            <a:r>
              <a:rPr lang="fr-FR" sz="1200" b="1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b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fr-FR" sz="12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Très proche</a:t>
            </a:r>
            <a:r>
              <a:rPr lang="fr-FR" sz="1200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 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: moins de 200 m</a:t>
            </a:r>
            <a:b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fr-FR" sz="12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Proche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 : 200 m à 500 m</a:t>
            </a:r>
            <a:b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fr-FR" sz="12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Moyenne distance</a:t>
            </a:r>
            <a:r>
              <a:rPr lang="fr-FR" sz="1200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 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: 500 m à 1 km</a:t>
            </a:r>
            <a:b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fr-FR" sz="12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Éloigné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 : 1 km à 1,5 km</a:t>
            </a:r>
            <a:b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fr-FR" sz="12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Très éloigné</a:t>
            </a:r>
            <a:r>
              <a:rPr lang="fr-FR" sz="1200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 </a:t>
            </a:r>
            <a:r>
              <a:rPr lang="fr-FR" sz="1200" dirty="0">
                <a:latin typeface="Arial" panose="020B0604020202020204" pitchFamily="34" charset="0"/>
                <a:cs typeface="Arial" panose="020B0604020202020204" pitchFamily="34" charset="0"/>
              </a:rPr>
              <a:t>: plus de 1,5 km</a:t>
            </a:r>
          </a:p>
        </p:txBody>
      </p:sp>
    </p:spTree>
    <p:extLst>
      <p:ext uri="{BB962C8B-B14F-4D97-AF65-F5344CB8AC3E}">
        <p14:creationId xmlns:p14="http://schemas.microsoft.com/office/powerpoint/2010/main" val="782618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CB385A2-D980-6182-519F-FEC85B242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dirty="0">
                <a:solidFill>
                  <a:srgbClr val="FF5A5F"/>
                </a:solidFill>
              </a:rPr>
              <a:t>Analyse par quartier</a:t>
            </a:r>
          </a:p>
        </p:txBody>
      </p:sp>
      <p:pic>
        <p:nvPicPr>
          <p:cNvPr id="25" name="Espace réservé du contenu 24">
            <a:extLst>
              <a:ext uri="{FF2B5EF4-FFF2-40B4-BE49-F238E27FC236}">
                <a16:creationId xmlns:a16="http://schemas.microsoft.com/office/drawing/2014/main" id="{691F74AF-7F7B-E7C7-839A-9374A903EC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574415"/>
            <a:ext cx="8199455" cy="4675659"/>
          </a:xfrm>
        </p:spPr>
      </p:pic>
      <p:sp>
        <p:nvSpPr>
          <p:cNvPr id="26" name="ZoneTexte 25">
            <a:extLst>
              <a:ext uri="{FF2B5EF4-FFF2-40B4-BE49-F238E27FC236}">
                <a16:creationId xmlns:a16="http://schemas.microsoft.com/office/drawing/2014/main" id="{E806C0B9-0B9D-99F0-0C7E-44C2436B35AB}"/>
              </a:ext>
            </a:extLst>
          </p:cNvPr>
          <p:cNvSpPr txBox="1"/>
          <p:nvPr/>
        </p:nvSpPr>
        <p:spPr>
          <a:xfrm>
            <a:off x="8350180" y="1690688"/>
            <a:ext cx="3567165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🔍 </a:t>
            </a:r>
            <a:r>
              <a:rPr lang="fr-FR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Observations principales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fr-FR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Élysée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déjà cher, et encore plus en se rapprochant de la Seine → effet “quartier prestigieux renforcé par la proximité au fleuve”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fr-FR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Bourse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quartier le plus populaire (musées, restaurants, vie nocturne)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fr-FR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Reuilly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très rentable, proche de la Seine, prix modérés, fort nombre d’avis</a:t>
            </a:r>
          </a:p>
          <a:p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fr-FR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Rive droite / rive gauche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contrastes notables en prix et attractivité</a:t>
            </a:r>
          </a:p>
        </p:txBody>
      </p:sp>
    </p:spTree>
    <p:extLst>
      <p:ext uri="{BB962C8B-B14F-4D97-AF65-F5344CB8AC3E}">
        <p14:creationId xmlns:p14="http://schemas.microsoft.com/office/powerpoint/2010/main" val="402993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D990E94-583B-8460-16A1-F48DB6F0C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579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fr-FR" sz="3200" b="1" dirty="0">
                <a:solidFill>
                  <a:srgbClr val="FF5A5F"/>
                </a:solidFill>
              </a:rPr>
              <a:t> Recommandations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6E84DFD-4A0B-8AD0-569C-2C684FED25D6}"/>
              </a:ext>
            </a:extLst>
          </p:cNvPr>
          <p:cNvSpPr txBox="1"/>
          <p:nvPr/>
        </p:nvSpPr>
        <p:spPr>
          <a:xfrm>
            <a:off x="838200" y="1651359"/>
            <a:ext cx="9829799" cy="4647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5A5F"/>
                </a:solidFill>
              </a:rPr>
              <a:t>🎯 </a:t>
            </a:r>
            <a:r>
              <a:rPr lang="fr-FR" sz="20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les hôtes Airbnb</a:t>
            </a:r>
          </a:p>
          <a:p>
            <a:endParaRPr lang="fr-FR" sz="2000" b="1" dirty="0">
              <a:solidFill>
                <a:srgbClr val="FF5A5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 </a:t>
            </a: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Cibler les zones attractives mais encore abordables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comme Reuilly ou les quartiers à fort taux d’occupation et prix raisonnables.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Mettre en avant dans les annonces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 : la proximité aux quais, monuments, infrastructures de baignade, etc.</a:t>
            </a:r>
          </a:p>
          <a:p>
            <a:endParaRPr lang="fr-FR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>
                <a:latin typeface="Arial" panose="020B0604020202020204" pitchFamily="34" charset="0"/>
                <a:cs typeface="Arial" panose="020B0604020202020204" pitchFamily="34" charset="0"/>
              </a:rPr>
              <a:t> Adapter les prix selon la saisonnalité</a:t>
            </a:r>
            <a:r>
              <a:rPr lang="fr-FR" dirty="0">
                <a:latin typeface="Arial" panose="020B0604020202020204" pitchFamily="34" charset="0"/>
                <a:cs typeface="Arial" panose="020B0604020202020204" pitchFamily="34" charset="0"/>
              </a:rPr>
              <a:t>, en tenant compte des pics observés (septembre plus cher, mars moins cher).</a:t>
            </a:r>
          </a:p>
          <a:p>
            <a:endParaRPr lang="fr-FR" dirty="0"/>
          </a:p>
          <a:p>
            <a:r>
              <a:rPr lang="fr-FR" sz="2000" b="1" dirty="0">
                <a:solidFill>
                  <a:srgbClr val="FF5A5F"/>
                </a:solidFill>
              </a:rPr>
              <a:t>📌 </a:t>
            </a:r>
            <a:r>
              <a:rPr lang="fr-FR" sz="20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Pour les plateformes</a:t>
            </a:r>
          </a:p>
          <a:p>
            <a:endParaRPr lang="fr-FR" sz="2000" b="1" dirty="0">
              <a:solidFill>
                <a:srgbClr val="FF5A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Suivre  l’impact réel des projets de baignade</a:t>
            </a:r>
            <a:r>
              <a:rPr lang="fr-FR" dirty="0"/>
              <a:t> (fréquentation, prix, taux de réservation).</a:t>
            </a:r>
          </a:p>
          <a:p>
            <a:endParaRPr lang="fr-F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r-FR" b="1" dirty="0"/>
              <a:t>Accompagner les hôtes avec des données</a:t>
            </a:r>
            <a:r>
              <a:rPr lang="fr-FR" dirty="0"/>
              <a:t> sur l’attractivité et les tendances locales.</a:t>
            </a:r>
          </a:p>
        </p:txBody>
      </p:sp>
    </p:spTree>
    <p:extLst>
      <p:ext uri="{BB962C8B-B14F-4D97-AF65-F5344CB8AC3E}">
        <p14:creationId xmlns:p14="http://schemas.microsoft.com/office/powerpoint/2010/main" val="38843456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464884-FD8B-66D2-2CE6-8B3FDD154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b="1" dirty="0">
                <a:solidFill>
                  <a:srgbClr val="FF5A5F"/>
                </a:solidFill>
              </a:rPr>
              <a:t>Ouvertures &amp; pistes futures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581C326-8CD2-B15E-B0E0-5E1D35802F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7"/>
            <a:ext cx="10515600" cy="44862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2200" b="1" dirty="0"/>
              <a:t>🔬 </a:t>
            </a:r>
            <a:r>
              <a:rPr lang="fr-FR" sz="22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Enrichissements possibles</a:t>
            </a:r>
          </a:p>
          <a:p>
            <a:pPr marL="0" indent="0">
              <a:buNone/>
            </a:pPr>
            <a:endParaRPr lang="fr-FR" sz="2000" b="1" dirty="0">
              <a:solidFill>
                <a:srgbClr val="FF5A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800" b="1" dirty="0">
                <a:latin typeface="Arial" panose="020B0604020202020204" pitchFamily="34" charset="0"/>
                <a:cs typeface="Arial" panose="020B0604020202020204" pitchFamily="34" charset="0"/>
              </a:rPr>
              <a:t>Étendre la période analysée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, avant et après les JO.</a:t>
            </a:r>
          </a:p>
          <a:p>
            <a:r>
              <a:rPr lang="fr-FR" sz="1800" b="1" dirty="0">
                <a:latin typeface="Arial" panose="020B0604020202020204" pitchFamily="34" charset="0"/>
                <a:cs typeface="Arial" panose="020B0604020202020204" pitchFamily="34" charset="0"/>
              </a:rPr>
              <a:t>Croiser avec d'autres données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: météo, événements culturels, flux touristiques, données de 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Booking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ou Abritel.</a:t>
            </a:r>
          </a:p>
          <a:p>
            <a:r>
              <a:rPr lang="fr-FR" sz="1800" b="1" dirty="0">
                <a:latin typeface="Arial" panose="020B0604020202020204" pitchFamily="34" charset="0"/>
                <a:cs typeface="Arial" panose="020B0604020202020204" pitchFamily="34" charset="0"/>
              </a:rPr>
              <a:t>Ajouter des couches géographiques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: monuments, transports, nature du </a:t>
            </a:r>
            <a:r>
              <a:rPr lang="fr-FR" sz="1900" dirty="0">
                <a:latin typeface="Arial" panose="020B0604020202020204" pitchFamily="34" charset="0"/>
                <a:cs typeface="Arial" panose="020B0604020202020204" pitchFamily="34" charset="0"/>
              </a:rPr>
              <a:t>quartier.</a:t>
            </a:r>
          </a:p>
          <a:p>
            <a:pPr marL="0" indent="0">
              <a:buNone/>
            </a:pPr>
            <a:endParaRPr lang="fr-FR" sz="2000" dirty="0"/>
          </a:p>
          <a:p>
            <a:pPr marL="0" indent="0">
              <a:buNone/>
            </a:pPr>
            <a:r>
              <a:rPr lang="fr-FR" sz="2000" b="1" dirty="0"/>
              <a:t>📊 </a:t>
            </a:r>
            <a:r>
              <a:rPr lang="fr-FR" sz="2000" b="1" dirty="0">
                <a:solidFill>
                  <a:srgbClr val="FF5A5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Approches analytiques avancées</a:t>
            </a:r>
            <a:endParaRPr lang="fr-FR" sz="2000" dirty="0">
              <a:solidFill>
                <a:srgbClr val="FF5A5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fr-FR" sz="1800" b="1" dirty="0">
                <a:latin typeface="Arial" panose="020B0604020202020204" pitchFamily="34" charset="0"/>
                <a:cs typeface="Arial" panose="020B0604020202020204" pitchFamily="34" charset="0"/>
              </a:rPr>
              <a:t>Modélisation prédictive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(prix, nombre d’avis).</a:t>
            </a:r>
          </a:p>
          <a:p>
            <a:r>
              <a:rPr lang="fr-FR" sz="1800" b="1" dirty="0">
                <a:latin typeface="Arial" panose="020B0604020202020204" pitchFamily="34" charset="0"/>
                <a:cs typeface="Arial" panose="020B0604020202020204" pitchFamily="34" charset="0"/>
              </a:rPr>
              <a:t>Clustering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des quartiers selon attractivité, saisonnalité, rentabilité.</a:t>
            </a:r>
          </a:p>
          <a:p>
            <a:r>
              <a:rPr lang="fr-FR" sz="1800" b="1" dirty="0">
                <a:latin typeface="Arial" panose="020B0604020202020204" pitchFamily="34" charset="0"/>
                <a:cs typeface="Arial" panose="020B0604020202020204" pitchFamily="34" charset="0"/>
              </a:rPr>
              <a:t>Analyse de l’impact d’événements majeurs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(ex : JO, Tour de France) sur le marché Airbnb.</a:t>
            </a:r>
          </a:p>
          <a:p>
            <a:pPr marL="0" indent="0">
              <a:buNone/>
            </a:pPr>
            <a:endParaRPr lang="fr-FR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773463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54B36ABFE8A1343ACC306DF39D50224" ma:contentTypeVersion="6" ma:contentTypeDescription="Crée un document." ma:contentTypeScope="" ma:versionID="bba1af84c2a7c877297055520b0cb543">
  <xsd:schema xmlns:xsd="http://www.w3.org/2001/XMLSchema" xmlns:xs="http://www.w3.org/2001/XMLSchema" xmlns:p="http://schemas.microsoft.com/office/2006/metadata/properties" xmlns:ns3="508904dd-a1d2-49b0-85cb-5f188d01a74c" targetNamespace="http://schemas.microsoft.com/office/2006/metadata/properties" ma:root="true" ma:fieldsID="a3985c2ba7d2ff99f1e0f2461c11aebd" ns3:_="">
    <xsd:import namespace="508904dd-a1d2-49b0-85cb-5f188d01a74c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904dd-a1d2-49b0-85cb-5f188d01a74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508904dd-a1d2-49b0-85cb-5f188d01a74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98CE288-9EDA-4621-B266-79291D5B8A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08904dd-a1d2-49b0-85cb-5f188d01a74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64B16E2-961C-4BB9-942C-3CE111889EFD}">
  <ds:schemaRefs>
    <ds:schemaRef ds:uri="http://purl.org/dc/elements/1.1/"/>
    <ds:schemaRef ds:uri="http://purl.org/dc/dcmitype/"/>
    <ds:schemaRef ds:uri="http://schemas.microsoft.com/office/2006/metadata/properties"/>
    <ds:schemaRef ds:uri="508904dd-a1d2-49b0-85cb-5f188d01a74c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E4A66ABD-60DA-4668-B982-A8548EC3AC3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2278</TotalTime>
  <Words>658</Words>
  <Application>Microsoft Office PowerPoint</Application>
  <PresentationFormat>Grand écran</PresentationFormat>
  <Paragraphs>72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Thème Office</vt:lpstr>
      <vt:lpstr>Impact de la proximité à la Seine sur les prix et l’attractivité des logements Airbnb à Paris</vt:lpstr>
      <vt:lpstr>Contexte &amp; Problématique</vt:lpstr>
      <vt:lpstr>Données &amp; Préparation</vt:lpstr>
      <vt:lpstr>Analyse exploratoire – Évolution des prix selon distance &amp; période</vt:lpstr>
      <vt:lpstr>Analyse par quartier</vt:lpstr>
      <vt:lpstr> Recommandations</vt:lpstr>
      <vt:lpstr>Ouvertures &amp; pistes futures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Laetitia GROSMOUGIN</dc:creator>
  <cp:lastModifiedBy>Laetitia GROSMOUGIN</cp:lastModifiedBy>
  <cp:revision>31</cp:revision>
  <dcterms:created xsi:type="dcterms:W3CDTF">2025-07-24T16:26:25Z</dcterms:created>
  <dcterms:modified xsi:type="dcterms:W3CDTF">2025-08-04T20:22:04Z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0x010100254B36ABFE8A1343ACC306DF39D50224</vt:lpwstr>
  </property>
</Properties>
</file>